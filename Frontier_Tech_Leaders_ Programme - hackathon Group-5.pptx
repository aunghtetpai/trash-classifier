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5"/>
  </p:notesMasterIdLst>
  <p:sldIdLst>
    <p:sldId id="256" r:id="rId5"/>
    <p:sldId id="278" r:id="rId6"/>
    <p:sldId id="269" r:id="rId7"/>
    <p:sldId id="271" r:id="rId8"/>
    <p:sldId id="288" r:id="rId9"/>
    <p:sldId id="290" r:id="rId10"/>
    <p:sldId id="289" r:id="rId11"/>
    <p:sldId id="291" r:id="rId12"/>
    <p:sldId id="277" r:id="rId13"/>
    <p:sldId id="268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2A49"/>
    <a:srgbClr val="4618DE"/>
    <a:srgbClr val="6E1E90"/>
    <a:srgbClr val="F04A23"/>
    <a:srgbClr val="EE482C"/>
    <a:srgbClr val="4617DE"/>
    <a:srgbClr val="FE2E46"/>
    <a:srgbClr val="9D6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181BA-1BC1-021E-E9BD-2A30870A6DD0}" v="283" dt="2025-09-26T12:50:08.53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278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ECBDA-38E7-2292-7BB7-9FD50D68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CFC092C4-2400-849C-7B2E-21F64F679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A453172D-45F7-A0CC-0383-9652C4D6070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6960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5F32-E3D2-66E5-EAE4-6DEC27C3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D4E67264-FCFF-BD8C-5F5D-31E39680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50C3A19E-57D6-9917-9DB3-2F08E0495EE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0340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F305-243B-D88A-6BC9-86250F70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C63901B0-CE3B-0012-6CFF-7D37D738D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90F9FDD-3F5E-D0E7-9875-74B46AB9E7F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942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23EC-1E82-3BAD-7C3D-281A48B3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536A8FE1-7887-15C1-0CD7-66C265BFC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EF755D1-5AF1-99C7-68EE-CB4C1ACDA9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3212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363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2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8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10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customXml" Target="../ink/ink12.xm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pn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customXml" Target="../ink/ink14.xml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using a computer&#10;&#10;Description automatically generated">
            <a:extLst>
              <a:ext uri="{FF2B5EF4-FFF2-40B4-BE49-F238E27FC236}">
                <a16:creationId xmlns:a16="http://schemas.microsoft.com/office/drawing/2014/main" id="{6E8DDA74-8630-43BB-E564-7470D2C1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" t="125" r="5881" b="35700"/>
          <a:stretch/>
        </p:blipFill>
        <p:spPr>
          <a:xfrm>
            <a:off x="-2985" y="1339747"/>
            <a:ext cx="12225969" cy="5533684"/>
          </a:xfrm>
          <a:prstGeom prst="rect">
            <a:avLst/>
          </a:prstGeom>
        </p:spPr>
      </p:pic>
      <p:sp>
        <p:nvSpPr>
          <p:cNvPr id="468" name="Rectangle"/>
          <p:cNvSpPr/>
          <p:nvPr/>
        </p:nvSpPr>
        <p:spPr>
          <a:xfrm>
            <a:off x="-11767" y="133974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6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7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">
            <a:extLst>
              <a:ext uri="{FF2B5EF4-FFF2-40B4-BE49-F238E27FC236}">
                <a16:creationId xmlns:a16="http://schemas.microsoft.com/office/drawing/2014/main" id="{119D6634-8C52-56C8-C196-BBFF1A999BF3}"/>
              </a:ext>
            </a:extLst>
          </p:cNvPr>
          <p:cNvSpPr/>
          <p:nvPr/>
        </p:nvSpPr>
        <p:spPr>
          <a:xfrm rot="21420000">
            <a:off x="7960507" y="3797677"/>
            <a:ext cx="2705697" cy="612972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76" name="A new generation…"/>
          <p:cNvSpPr txBox="1"/>
          <p:nvPr/>
        </p:nvSpPr>
        <p:spPr>
          <a:xfrm>
            <a:off x="6093185" y="3184368"/>
            <a:ext cx="4337083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/>
              </a:rPr>
              <a:t>A new generation</a:t>
            </a:r>
            <a:endParaRPr lang="en-US" b="1" dirty="0">
              <a:latin typeface="Microsoft YaHei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b="1" dirty="0">
                <a:latin typeface="Microsoft YaHei"/>
              </a:rPr>
              <a:t>of tech specialists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"/>
          <p:cNvSpPr/>
          <p:nvPr/>
        </p:nvSpPr>
        <p:spPr>
          <a:xfrm>
            <a:off x="2400" y="1168207"/>
            <a:ext cx="12203767" cy="5535101"/>
          </a:xfrm>
          <a:prstGeom prst="rect">
            <a:avLst/>
          </a:prstGeom>
          <a:solidFill>
            <a:srgbClr val="4617DE"/>
          </a:solidFill>
          <a:ln w="12700">
            <a:solidFill>
              <a:srgbClr val="4617DE"/>
            </a:solidFill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46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74" name="Image" descr="Image"/>
          <p:cNvPicPr>
            <a:picLocks noChangeAspect="1"/>
          </p:cNvPicPr>
          <p:nvPr/>
        </p:nvPicPr>
        <p:blipFill rotWithShape="1">
          <a:blip r:embed="rId6"/>
          <a:srcRect l="1000" r="13538" b="33964"/>
          <a:stretch/>
        </p:blipFill>
        <p:spPr>
          <a:xfrm>
            <a:off x="10008652" y="5282070"/>
            <a:ext cx="2250548" cy="1597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0497" y="2051146"/>
            <a:ext cx="4240770" cy="4117181"/>
          </a:xfrm>
          <a:prstGeom prst="rect">
            <a:avLst/>
          </a:prstGeom>
          <a:ln w="12700">
            <a:miter lim="400000"/>
          </a:ln>
        </p:spPr>
      </p:pic>
      <p:sp>
        <p:nvSpPr>
          <p:cNvPr id="476" name="A new generation…"/>
          <p:cNvSpPr txBox="1"/>
          <p:nvPr/>
        </p:nvSpPr>
        <p:spPr>
          <a:xfrm>
            <a:off x="7631522" y="3672363"/>
            <a:ext cx="3697484" cy="180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b="1" err="1">
                <a:solidFill>
                  <a:schemeClr val="tx1"/>
                </a:solidFill>
                <a:latin typeface="Microsoft YaHei"/>
              </a:rPr>
              <a:t>Trash</a:t>
            </a:r>
            <a:r>
              <a:rPr lang="tr-TR" b="1" dirty="0">
                <a:solidFill>
                  <a:schemeClr val="tx1"/>
                </a:solidFill>
                <a:latin typeface="Microsoft YaHei"/>
              </a:rPr>
              <a:t> </a:t>
            </a:r>
            <a:r>
              <a:rPr lang="tr-TR" b="1" err="1">
                <a:solidFill>
                  <a:schemeClr val="tx1"/>
                </a:solidFill>
                <a:latin typeface="Microsoft YaHei"/>
              </a:rPr>
              <a:t>Classifier</a:t>
            </a:r>
            <a:endParaRPr lang="tr-TR" b="1">
              <a:solidFill>
                <a:schemeClr val="tx1"/>
              </a:solidFill>
              <a:latin typeface="Microsoft YaHei"/>
            </a:endParaRP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tr-TR" b="1" dirty="0">
                <a:solidFill>
                  <a:schemeClr val="tx1"/>
                </a:solidFill>
                <a:latin typeface="Microsoft YaHei"/>
              </a:rPr>
              <a:t>(</a:t>
            </a:r>
            <a:r>
              <a:rPr lang="tr-TR" b="1" err="1">
                <a:solidFill>
                  <a:schemeClr val="tx1"/>
                </a:solidFill>
                <a:latin typeface="Microsoft YaHei"/>
              </a:rPr>
              <a:t>Group</a:t>
            </a:r>
            <a:r>
              <a:rPr lang="tr-TR" b="1" dirty="0">
                <a:solidFill>
                  <a:schemeClr val="tx1"/>
                </a:solidFill>
                <a:latin typeface="Microsoft YaHei"/>
              </a:rPr>
              <a:t> – 5)</a:t>
            </a:r>
          </a:p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endParaRPr lang="tr-TR" b="1" dirty="0">
              <a:solidFill>
                <a:schemeClr val="tx1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6829351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ea typeface="+mj-lt"/>
                <a:cs typeface="+mj-lt"/>
              </a:rPr>
              <a:t>Proper waste segregation is essential for environmental sustainability, but manual sorting is time-consuming and error-prone</a:t>
            </a:r>
            <a:endParaRPr lang="tr-TR" sz="1600" dirty="0">
              <a:latin typeface="Microsoft YaHei Light"/>
              <a:ea typeface="+mj-lt"/>
              <a:cs typeface="+mj-l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dirty="0">
                <a:ea typeface="+mj-lt"/>
                <a:cs typeface="+mj-lt"/>
              </a:rPr>
              <a:t>Develop a web-based Trash Classifier that automatically identifies recyclable and non-recyclable items using images.</a:t>
            </a:r>
            <a:endParaRPr lang="tr-TR" sz="1600" dirty="0">
              <a:latin typeface="Microsoft YaHei Light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 &amp;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68868" y="2917401"/>
            <a:ext cx="10159161" cy="3206869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marL="0" indent="0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400" b="1" dirty="0">
              <a:latin typeface="Merriweather Sans Light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>
                <a:ea typeface="+mj-lt"/>
                <a:cs typeface="+mj-lt"/>
              </a:rPr>
              <a:t>SDG 11: Sustainable Cities and Communities</a:t>
            </a:r>
            <a:r>
              <a:rPr lang="en-US" sz="1600">
                <a:ea typeface="+mj-lt"/>
                <a:cs typeface="+mj-lt"/>
              </a:rPr>
              <a:t> → Reduce landfill waste, promote recycling.</a:t>
            </a:r>
            <a:endParaRPr lang="en-US"/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sz="1600" b="1" dirty="0">
                <a:ea typeface="+mj-lt"/>
                <a:cs typeface="+mj-lt"/>
              </a:rPr>
              <a:t>SDG 12: Responsible Consumption and Production</a:t>
            </a:r>
            <a:r>
              <a:rPr lang="en-US" sz="1600" dirty="0">
                <a:ea typeface="+mj-lt"/>
                <a:cs typeface="+mj-lt"/>
              </a:rPr>
              <a:t> → Encourage proper disposal of waste.</a:t>
            </a:r>
            <a:endParaRPr lang="en-US" dirty="0"/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sz="1600" dirty="0">
              <a:latin typeface="Microsoft YaHei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93793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589D-BFA9-DC28-CD21-0A80D451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02BB99-8C9F-BCAB-3D9A-560E34AB8B9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68868" y="2917401"/>
            <a:ext cx="10893146" cy="3206869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dirty="0">
                <a:latin typeface="merriweather sans light"/>
                <a:ea typeface="+mj-lt"/>
                <a:cs typeface="+mj-lt"/>
              </a:rPr>
              <a:t>A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lightweight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AI model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that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classifies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trash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images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as </a:t>
            </a:r>
            <a:r>
              <a:rPr lang="tr-TR" sz="1600" err="1">
                <a:latin typeface="merriweather sans light"/>
              </a:rPr>
              <a:t>Plastic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, </a:t>
            </a:r>
            <a:r>
              <a:rPr lang="tr-TR" sz="1600" err="1">
                <a:latin typeface="merriweather sans light"/>
              </a:rPr>
              <a:t>Paper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,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or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</a:rPr>
              <a:t>Food</a:t>
            </a:r>
            <a:r>
              <a:rPr lang="tr-TR" sz="1600" dirty="0">
                <a:latin typeface="merriweather sans light"/>
              </a:rPr>
              <a:t> </a:t>
            </a:r>
            <a:r>
              <a:rPr lang="tr-TR" sz="1600" err="1">
                <a:latin typeface="merriweather sans light"/>
              </a:rPr>
              <a:t>Waste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using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Teachable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Machine.</a:t>
            </a:r>
            <a:endParaRPr lang="tr-TR" sz="1600">
              <a:latin typeface="merriweather sans light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err="1">
                <a:latin typeface="merriweather sans light"/>
                <a:ea typeface="+mj-lt"/>
                <a:cs typeface="+mj-lt"/>
              </a:rPr>
              <a:t>Helps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users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quickly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identify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recyclable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vs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non-recyclable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 </a:t>
            </a:r>
            <a:r>
              <a:rPr lang="tr-TR" sz="1600" err="1">
                <a:latin typeface="merriweather sans light"/>
                <a:ea typeface="+mj-lt"/>
                <a:cs typeface="+mj-lt"/>
              </a:rPr>
              <a:t>waste</a:t>
            </a:r>
            <a:r>
              <a:rPr lang="tr-TR" sz="1600" dirty="0">
                <a:latin typeface="merriweather sans light"/>
                <a:ea typeface="+mj-lt"/>
                <a:cs typeface="+mj-lt"/>
              </a:rPr>
              <a:t>.</a:t>
            </a:r>
            <a:endParaRPr lang="tr-TR">
              <a:latin typeface="merriweather sans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F5D7A6E6-BA73-BF88-C971-6054B1B36E49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3F6C684-034E-6FED-A300-0383AD64D2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Project Element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2BFFAFE6-8025-D397-1820-4D7451391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5E61ACF-C96E-1DE8-51BB-CABD8DF84831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F3292B94-A82A-3AF0-8B48-6546AD994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E429222-7844-BC93-D318-B1B60E37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F34616AC-880F-7D82-B112-F6EDF3C1F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6958FC0-8788-9126-81D1-5EE445AD0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3A2056-E894-3947-FCD8-25E48DB587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F5FD8623-9E2A-B037-7502-678A5C256722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DEC28B5-D212-96FE-5214-5DBF441FF49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26685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D444-50E5-9338-DEE6-CDE0E34EF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DF07D337-A45F-1133-A780-DE05A356CC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dirty="0" err="1">
                <a:latin typeface="merriweather sans light"/>
              </a:rPr>
              <a:t>Collect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sample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trash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images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for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each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class</a:t>
            </a:r>
            <a:r>
              <a:rPr lang="tr-TR" dirty="0">
                <a:latin typeface="merriweather sans light"/>
              </a:rPr>
              <a:t> (</a:t>
            </a:r>
            <a:r>
              <a:rPr lang="tr-TR" dirty="0" err="1">
                <a:latin typeface="merriweather sans light"/>
              </a:rPr>
              <a:t>Plastic</a:t>
            </a:r>
            <a:r>
              <a:rPr lang="tr-TR" dirty="0">
                <a:latin typeface="merriweather sans light"/>
              </a:rPr>
              <a:t>, </a:t>
            </a:r>
            <a:r>
              <a:rPr lang="tr-TR" dirty="0" err="1">
                <a:latin typeface="merriweather sans light"/>
              </a:rPr>
              <a:t>Paper</a:t>
            </a:r>
            <a:r>
              <a:rPr lang="tr-TR" dirty="0">
                <a:latin typeface="merriweather sans light"/>
              </a:rPr>
              <a:t>, </a:t>
            </a:r>
            <a:r>
              <a:rPr lang="tr-TR" dirty="0" err="1">
                <a:latin typeface="merriweather sans light"/>
              </a:rPr>
              <a:t>Food</a:t>
            </a:r>
            <a:r>
              <a:rPr lang="tr-TR" dirty="0">
                <a:latin typeface="merriweather sans light"/>
              </a:rPr>
              <a:t>)</a:t>
            </a:r>
            <a:endParaRPr lang="tr-TR" sz="1600" dirty="0">
              <a:latin typeface="merriweather sans light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dirty="0">
                <a:latin typeface="merriweather sans light"/>
              </a:rPr>
              <a:t>Train </a:t>
            </a:r>
            <a:r>
              <a:rPr lang="tr-TR" dirty="0" err="1">
                <a:latin typeface="merriweather sans light"/>
              </a:rPr>
              <a:t>Teachable</a:t>
            </a:r>
            <a:r>
              <a:rPr lang="tr-TR" dirty="0">
                <a:latin typeface="merriweather sans light"/>
              </a:rPr>
              <a:t> Machine </a:t>
            </a:r>
            <a:r>
              <a:rPr lang="tr-TR" dirty="0" err="1">
                <a:latin typeface="merriweather sans light"/>
              </a:rPr>
              <a:t>image</a:t>
            </a:r>
            <a:r>
              <a:rPr lang="tr-TR" dirty="0">
                <a:latin typeface="merriweather sans light"/>
              </a:rPr>
              <a:t> model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dirty="0" err="1">
                <a:latin typeface="merriweather sans light"/>
              </a:rPr>
              <a:t>Export</a:t>
            </a:r>
            <a:r>
              <a:rPr lang="tr-TR" dirty="0">
                <a:latin typeface="merriweather sans light"/>
              </a:rPr>
              <a:t> model as </a:t>
            </a:r>
            <a:r>
              <a:rPr lang="tr-TR" dirty="0" err="1">
                <a:latin typeface="merriweather sans light"/>
              </a:rPr>
              <a:t>TensorFlow</a:t>
            </a:r>
            <a:r>
              <a:rPr lang="tr-TR" dirty="0">
                <a:latin typeface="merriweather sans light"/>
              </a:rPr>
              <a:t>/</a:t>
            </a:r>
            <a:r>
              <a:rPr lang="tr-TR" dirty="0" err="1">
                <a:latin typeface="merriweather sans light"/>
              </a:rPr>
              <a:t>Keras</a:t>
            </a:r>
            <a:r>
              <a:rPr lang="tr-TR" dirty="0">
                <a:latin typeface="merriweather sans light"/>
              </a:rPr>
              <a:t> (.</a:t>
            </a:r>
            <a:r>
              <a:rPr lang="tr-TR" dirty="0" err="1">
                <a:latin typeface="merriweather sans light"/>
              </a:rPr>
              <a:t>zip</a:t>
            </a:r>
            <a:r>
              <a:rPr lang="tr-TR" dirty="0">
                <a:latin typeface="merriweather sans light"/>
              </a:rPr>
              <a:t>)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dirty="0" err="1">
                <a:latin typeface="merriweather sans light"/>
              </a:rPr>
              <a:t>Prepare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Streamlit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app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for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image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upload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and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prediction</a:t>
            </a:r>
            <a:endParaRPr lang="tr-TR">
              <a:latin typeface="merriweather sans light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dirty="0">
                <a:latin typeface="merriweather sans light"/>
              </a:rPr>
              <a:t>Test </a:t>
            </a:r>
            <a:r>
              <a:rPr lang="tr-TR" dirty="0" err="1">
                <a:latin typeface="merriweather sans light"/>
              </a:rPr>
              <a:t>the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app</a:t>
            </a:r>
            <a:r>
              <a:rPr lang="tr-TR" dirty="0">
                <a:latin typeface="merriweather sans light"/>
              </a:rPr>
              <a:t> </a:t>
            </a:r>
            <a:r>
              <a:rPr lang="tr-TR" dirty="0" err="1">
                <a:latin typeface="merriweather sans light"/>
              </a:rPr>
              <a:t>locally</a:t>
            </a:r>
            <a:r>
              <a:rPr lang="tr-TR" dirty="0">
                <a:latin typeface="merriweather sans light"/>
              </a:rPr>
              <a:t> </a:t>
            </a: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1600" dirty="0">
              <a:latin typeface="merriweather sans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A0D461FF-1DE2-CEC4-29BA-2CD1411DBCED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88C61DCD-7BA0-7AAE-DC7C-FDABF2A01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RoadMap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B34757EF-93C8-6161-6313-16E0ABB78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C2474FC-DFEE-9C3B-E07A-8C4B4926380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C75E2966-C007-BD6A-4414-7D2183874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E729EE49-7476-42BC-2072-ECA81805C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30DE75CB-3F36-425D-BA29-3D2EDA973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81687006-2E5E-C4FE-151A-A3207411F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CC9AC74-96F5-4AB6-F5AE-B18F763287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05E120B9-AAB7-7CB2-01CD-F183048AFE41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0440B7E-E17A-1C30-BEEA-C31F533E8A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013661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DF4C-8D59-B587-7601-AB29BA82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E6F20155-B91F-BBA2-D172-17A7D9091FB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68868" y="2917401"/>
            <a:ext cx="10691440" cy="3206869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>
                <a:ea typeface="+mj-lt"/>
                <a:cs typeface="+mj-lt"/>
              </a:rPr>
              <a:t>Define Problem: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Automate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trash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classification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to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improve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recycling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and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waste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management</a:t>
            </a:r>
            <a:r>
              <a:rPr lang="tr-TR" sz="1600" dirty="0">
                <a:ea typeface="+mj-lt"/>
                <a:cs typeface="+mj-lt"/>
              </a:rPr>
              <a:t>.</a:t>
            </a:r>
            <a:endParaRPr lang="en-US" sz="1600" dirty="0">
              <a:latin typeface="Microsoft YaHei Light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 err="1">
                <a:ea typeface="+mj-lt"/>
                <a:cs typeface="+mj-lt"/>
              </a:rPr>
              <a:t>Collect</a:t>
            </a:r>
            <a:r>
              <a:rPr lang="tr-TR" sz="1600" b="1" dirty="0">
                <a:ea typeface="+mj-lt"/>
                <a:cs typeface="+mj-lt"/>
              </a:rPr>
              <a:t> </a:t>
            </a:r>
            <a:r>
              <a:rPr lang="tr-TR" sz="1600" b="1" dirty="0" err="1">
                <a:ea typeface="+mj-lt"/>
                <a:cs typeface="+mj-lt"/>
              </a:rPr>
              <a:t>Dataset</a:t>
            </a:r>
            <a:r>
              <a:rPr lang="tr-TR" sz="1600" b="1" dirty="0">
                <a:ea typeface="+mj-lt"/>
                <a:cs typeface="+mj-lt"/>
              </a:rPr>
              <a:t>: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Gather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images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for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classes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like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Plastic</a:t>
            </a:r>
            <a:r>
              <a:rPr lang="tr-TR" sz="1600" dirty="0">
                <a:ea typeface="+mj-lt"/>
                <a:cs typeface="+mj-lt"/>
              </a:rPr>
              <a:t>, </a:t>
            </a:r>
            <a:r>
              <a:rPr lang="tr-TR" sz="1600" dirty="0" err="1">
                <a:ea typeface="+mj-lt"/>
                <a:cs typeface="+mj-lt"/>
              </a:rPr>
              <a:t>Paper</a:t>
            </a:r>
            <a:r>
              <a:rPr lang="tr-TR" sz="1600" dirty="0">
                <a:ea typeface="+mj-lt"/>
                <a:cs typeface="+mj-lt"/>
              </a:rPr>
              <a:t>, </a:t>
            </a:r>
            <a:r>
              <a:rPr lang="tr-TR" sz="1600" dirty="0" err="1">
                <a:ea typeface="+mj-lt"/>
                <a:cs typeface="+mj-lt"/>
              </a:rPr>
              <a:t>and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Food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Waste</a:t>
            </a:r>
            <a:r>
              <a:rPr lang="tr-TR" sz="1600" dirty="0">
                <a:ea typeface="+mj-lt"/>
                <a:cs typeface="+mj-lt"/>
              </a:rPr>
              <a:t>.</a:t>
            </a:r>
            <a:endParaRPr lang="tr-TR" dirty="0"/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>
                <a:ea typeface="+mj-lt"/>
                <a:cs typeface="+mj-lt"/>
              </a:rPr>
              <a:t>Train Model: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Use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Teachable</a:t>
            </a:r>
            <a:r>
              <a:rPr lang="tr-TR" sz="1600" dirty="0">
                <a:ea typeface="+mj-lt"/>
                <a:cs typeface="+mj-lt"/>
              </a:rPr>
              <a:t> Machine </a:t>
            </a:r>
            <a:r>
              <a:rPr lang="tr-TR" sz="1600" dirty="0" err="1">
                <a:ea typeface="+mj-lt"/>
                <a:cs typeface="+mj-lt"/>
              </a:rPr>
              <a:t>to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train</a:t>
            </a:r>
            <a:r>
              <a:rPr lang="tr-TR" sz="1600" dirty="0">
                <a:ea typeface="+mj-lt"/>
                <a:cs typeface="+mj-lt"/>
              </a:rPr>
              <a:t> an </a:t>
            </a:r>
            <a:r>
              <a:rPr lang="tr-TR" sz="1600" dirty="0" err="1">
                <a:ea typeface="+mj-lt"/>
                <a:cs typeface="+mj-lt"/>
              </a:rPr>
              <a:t>image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classification</a:t>
            </a:r>
            <a:r>
              <a:rPr lang="tr-TR" sz="1600" dirty="0">
                <a:ea typeface="+mj-lt"/>
                <a:cs typeface="+mj-lt"/>
              </a:rPr>
              <a:t> model.</a:t>
            </a:r>
            <a:endParaRPr lang="tr-TR" dirty="0"/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 err="1">
                <a:ea typeface="+mj-lt"/>
                <a:cs typeface="+mj-lt"/>
              </a:rPr>
              <a:t>Build</a:t>
            </a:r>
            <a:r>
              <a:rPr lang="tr-TR" sz="1600" b="1" dirty="0">
                <a:ea typeface="+mj-lt"/>
                <a:cs typeface="+mj-lt"/>
              </a:rPr>
              <a:t> </a:t>
            </a:r>
            <a:r>
              <a:rPr lang="tr-TR" sz="1600" b="1" dirty="0" err="1">
                <a:ea typeface="+mj-lt"/>
                <a:cs typeface="+mj-lt"/>
              </a:rPr>
              <a:t>App</a:t>
            </a:r>
            <a:r>
              <a:rPr lang="tr-TR" sz="1600" b="1" dirty="0">
                <a:ea typeface="+mj-lt"/>
                <a:cs typeface="+mj-lt"/>
              </a:rPr>
              <a:t>: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Create</a:t>
            </a:r>
            <a:r>
              <a:rPr lang="tr-TR" sz="1600" dirty="0">
                <a:ea typeface="+mj-lt"/>
                <a:cs typeface="+mj-lt"/>
              </a:rPr>
              <a:t> a </a:t>
            </a:r>
            <a:r>
              <a:rPr lang="tr-TR" sz="1600" dirty="0" err="1">
                <a:ea typeface="+mj-lt"/>
                <a:cs typeface="+mj-lt"/>
              </a:rPr>
              <a:t>Streamlit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interface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for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uploading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images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and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showing</a:t>
            </a:r>
            <a:r>
              <a:rPr lang="tr-TR" sz="1600" dirty="0">
                <a:ea typeface="+mj-lt"/>
                <a:cs typeface="+mj-lt"/>
              </a:rPr>
              <a:t> </a:t>
            </a:r>
            <a:r>
              <a:rPr lang="tr-TR" sz="1600" dirty="0" err="1">
                <a:ea typeface="+mj-lt"/>
                <a:cs typeface="+mj-lt"/>
              </a:rPr>
              <a:t>predictions</a:t>
            </a:r>
            <a:r>
              <a:rPr lang="tr-TR" sz="1600" dirty="0">
                <a:ea typeface="+mj-lt"/>
                <a:cs typeface="+mj-lt"/>
              </a:rPr>
              <a:t>.</a:t>
            </a:r>
            <a:endParaRPr lang="tr-TR" dirty="0"/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tr-TR" sz="1600" dirty="0">
              <a:latin typeface="Microsoft YaHei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6D2FDE8A-7281-11C1-FE8F-62E1489E9D46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7F6AF1D6-5E18-4D4A-AF2E-D4983F1F0F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Project Development</a:t>
            </a: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F816EA8B-B45F-E34C-F002-9B70258C7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C8C2F4E-1FB3-69F9-D75B-ACEAEF90013A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2583B676-E842-B576-A3F9-4E9420A76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BA4DA07E-3F8A-F7B3-903A-C4ABBBDA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0B9C34C7-D810-218C-80E8-8FAF2B33B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8F9D5949-CDE7-6DD1-EEE2-32225DC50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D8BDD8B-8631-5ADC-850F-FBD40290DB7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D8BDD8B-8631-5ADC-850F-FBD40290DB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A8A1D4A-D779-918C-30E8-B5E00B28AE3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1FA3E71-22C3-27CD-02BB-1F2CE9BC8644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1FA3E71-22C3-27CD-02BB-1F2CE9BC86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16501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7930-90D2-9289-D4D9-BB4BAC87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1635224B-9D32-87FA-6132-ADD195AE7D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/>
              <a:t>Hardware - </a:t>
            </a:r>
            <a:r>
              <a:rPr lang="tr-TR" sz="1600" dirty="0"/>
              <a:t>Laptop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dirty="0"/>
              <a:t>Software - </a:t>
            </a:r>
            <a:r>
              <a:rPr lang="tr-TR" sz="1600" err="1"/>
              <a:t>Free</a:t>
            </a:r>
            <a:r>
              <a:rPr lang="tr-TR" sz="1600" dirty="0"/>
              <a:t> (Python, </a:t>
            </a:r>
            <a:r>
              <a:rPr lang="tr-TR" sz="1600" err="1"/>
              <a:t>Streamlit</a:t>
            </a:r>
            <a:r>
              <a:rPr lang="tr-TR" sz="1600" dirty="0"/>
              <a:t>, </a:t>
            </a:r>
            <a:r>
              <a:rPr lang="tr-TR" sz="1600" err="1"/>
              <a:t>Teachable</a:t>
            </a:r>
            <a:r>
              <a:rPr lang="tr-TR" sz="1600" dirty="0"/>
              <a:t> Machine, </a:t>
            </a:r>
            <a:r>
              <a:rPr lang="tr-TR" sz="1600" err="1"/>
              <a:t>TensorFlow</a:t>
            </a:r>
            <a:r>
              <a:rPr lang="tr-TR" sz="1600" dirty="0"/>
              <a:t>)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err="1"/>
              <a:t>Dataset</a:t>
            </a:r>
            <a:r>
              <a:rPr lang="tr-TR" sz="1600" b="1" dirty="0"/>
              <a:t> - </a:t>
            </a:r>
            <a:r>
              <a:rPr lang="tr-TR" sz="1600" err="1"/>
              <a:t>Free</a:t>
            </a:r>
            <a:r>
              <a:rPr lang="tr-TR" sz="1600" dirty="0"/>
              <a:t> (</a:t>
            </a:r>
            <a:r>
              <a:rPr lang="tr-TR" sz="1600" err="1"/>
              <a:t>use</a:t>
            </a:r>
            <a:r>
              <a:rPr lang="tr-TR" sz="1600" dirty="0"/>
              <a:t> </a:t>
            </a:r>
            <a:r>
              <a:rPr lang="tr-TR" sz="1600" err="1"/>
              <a:t>open-source</a:t>
            </a:r>
            <a:r>
              <a:rPr lang="tr-TR" sz="1600" dirty="0"/>
              <a:t> </a:t>
            </a:r>
            <a:r>
              <a:rPr lang="tr-TR" sz="1600" err="1"/>
              <a:t>images</a:t>
            </a:r>
            <a:r>
              <a:rPr lang="tr-TR" sz="1600" dirty="0"/>
              <a:t> </a:t>
            </a:r>
            <a:r>
              <a:rPr lang="tr-TR" sz="1600" err="1"/>
              <a:t>or</a:t>
            </a:r>
            <a:r>
              <a:rPr lang="tr-TR" sz="1600" dirty="0"/>
              <a:t> </a:t>
            </a:r>
            <a:r>
              <a:rPr lang="tr-TR" sz="1600" err="1"/>
              <a:t>take</a:t>
            </a:r>
            <a:r>
              <a:rPr lang="tr-TR" sz="1600" dirty="0"/>
              <a:t> </a:t>
            </a:r>
            <a:r>
              <a:rPr lang="tr-TR" sz="1600" err="1"/>
              <a:t>your</a:t>
            </a:r>
            <a:r>
              <a:rPr lang="tr-TR" sz="1600" dirty="0"/>
              <a:t> </a:t>
            </a:r>
            <a:r>
              <a:rPr lang="tr-TR" sz="1600" err="1"/>
              <a:t>own</a:t>
            </a:r>
            <a:r>
              <a:rPr lang="tr-TR" sz="1600" dirty="0"/>
              <a:t> </a:t>
            </a:r>
            <a:r>
              <a:rPr lang="tr-TR" sz="1600" err="1"/>
              <a:t>photos</a:t>
            </a:r>
            <a:r>
              <a:rPr lang="tr-TR" sz="1600" dirty="0"/>
              <a:t>)</a:t>
            </a: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b="1" err="1"/>
              <a:t>Miscellaneous</a:t>
            </a:r>
            <a:r>
              <a:rPr lang="tr-TR" sz="1600" b="1" dirty="0"/>
              <a:t> - </a:t>
            </a:r>
            <a:r>
              <a:rPr lang="tr-TR" sz="1600" dirty="0"/>
              <a:t>Internet </a:t>
            </a:r>
            <a:r>
              <a:rPr lang="tr-TR" sz="1600" err="1"/>
              <a:t>connection</a:t>
            </a:r>
            <a:endParaRPr lang="tr-TR" sz="1600">
              <a:latin typeface="Merriweather Sans Light"/>
            </a:endParaRPr>
          </a:p>
        </p:txBody>
      </p:sp>
      <p:sp>
        <p:nvSpPr>
          <p:cNvPr id="492" name="Rectangle">
            <a:extLst>
              <a:ext uri="{FF2B5EF4-FFF2-40B4-BE49-F238E27FC236}">
                <a16:creationId xmlns:a16="http://schemas.microsoft.com/office/drawing/2014/main" id="{85B8BBAC-72D1-DF3E-5111-6EB75F80A6C6}"/>
              </a:ext>
            </a:extLst>
          </p:cNvPr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0A47334-EC8B-17F3-E79B-425BE02AC1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Project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Cost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A7A18A68-F864-C8D1-67C0-8D37C6E11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98269FE-2A8A-9087-E615-63382BE0A29E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31C22BB9-34C0-07E2-7FDE-B1257015B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AF213147-4B6E-0082-EF64-AB91E9B3F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C104A46-A65E-C2AB-330A-D701E6206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1CA36C4F-D22C-E707-D8CF-12B119B25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DE1350E-6CBE-394D-B9D3-CB887F4457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28BDD42-F534-E73F-9F55-0D613948DAA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23C283B-9716-D210-A874-BF277F9E36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51038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68868" y="2917401"/>
            <a:ext cx="10775484" cy="3206869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b="1" dirty="0">
                <a:latin typeface="merriweather sans light"/>
              </a:rPr>
              <a:t>Conclusion - </a:t>
            </a:r>
            <a:r>
              <a:rPr lang="en-US" sz="1600" dirty="0">
                <a:latin typeface="merriweather sans light"/>
                <a:ea typeface="Calibri"/>
                <a:cs typeface="Calibri"/>
              </a:rPr>
              <a:t>The</a:t>
            </a:r>
            <a:r>
              <a:rPr lang="en-US" sz="1600" dirty="0">
                <a:latin typeface="merriweather sans light"/>
                <a:ea typeface="+mj-lt"/>
                <a:cs typeface="+mj-lt"/>
              </a:rPr>
              <a:t> Trash Classifier accurately identifies recyclable and non-recyclable waste using AI.</a:t>
            </a:r>
            <a:br>
              <a:rPr lang="en-US" sz="1600" dirty="0">
                <a:latin typeface="merriweather sans light"/>
                <a:ea typeface="+mj-lt"/>
                <a:cs typeface="+mj-lt"/>
              </a:rPr>
            </a:br>
            <a:r>
              <a:rPr lang="en-US" sz="1600" dirty="0">
                <a:latin typeface="merriweather sans light"/>
                <a:ea typeface="+mj-lt"/>
                <a:cs typeface="+mj-lt"/>
              </a:rPr>
              <a:t> It demonstrates a simple, fast, and accessible solution for promoting sustainability.</a:t>
            </a:r>
            <a:endParaRPr lang="en-US" sz="1600" dirty="0">
              <a:latin typeface="merriweather sans light"/>
              <a:ea typeface="Calibri"/>
              <a:cs typeface="Calibri"/>
            </a:endParaRPr>
          </a:p>
          <a:p>
            <a:pPr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en-US" b="1" dirty="0">
                <a:latin typeface="merriweather sans light"/>
              </a:rPr>
              <a:t>Future Work </a:t>
            </a:r>
            <a:r>
              <a:rPr lang="en-US" sz="1400" b="1" dirty="0">
                <a:latin typeface="merriweather sans light"/>
                <a:ea typeface="Calibri"/>
                <a:cs typeface="Calibri"/>
              </a:rPr>
              <a:t>- </a:t>
            </a:r>
            <a:r>
              <a:rPr lang="en-US" sz="1600" dirty="0">
                <a:latin typeface="merriweather sans light"/>
                <a:ea typeface="Calibri"/>
                <a:cs typeface="Calibri"/>
              </a:rPr>
              <a:t>Expand</a:t>
            </a:r>
            <a:r>
              <a:rPr lang="en-US" sz="1600" dirty="0">
                <a:latin typeface="merriweather sans light"/>
                <a:ea typeface="+mj-lt"/>
                <a:cs typeface="+mj-lt"/>
              </a:rPr>
              <a:t> the model to include more trash categories for better accuracy.</a:t>
            </a:r>
            <a:br>
              <a:rPr lang="en-US" sz="1600" dirty="0">
                <a:latin typeface="merriweather sans light"/>
                <a:ea typeface="+mj-lt"/>
                <a:cs typeface="+mj-lt"/>
              </a:rPr>
            </a:br>
            <a:r>
              <a:rPr lang="en-US" sz="1600" dirty="0">
                <a:latin typeface="merriweather sans light"/>
                <a:ea typeface="+mj-lt"/>
                <a:cs typeface="+mj-lt"/>
              </a:rPr>
              <a:t> Integrate with mobile apps or IoT devices for real-time trash sorting and guidance.</a:t>
            </a:r>
            <a:endParaRPr lang="en-US">
              <a:latin typeface="merriweather sans light"/>
            </a:endParaRPr>
          </a:p>
          <a:p>
            <a:pPr marL="0" indent="0"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erriweather sans light"/>
              <a:ea typeface="Calibri"/>
              <a:cs typeface="Calibri"/>
            </a:endParaRPr>
          </a:p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erriweather sans light"/>
            </a:endParaRPr>
          </a:p>
        </p:txBody>
      </p:sp>
      <p:sp>
        <p:nvSpPr>
          <p:cNvPr id="492" name="Rectangle"/>
          <p:cNvSpPr/>
          <p:nvPr/>
        </p:nvSpPr>
        <p:spPr>
          <a:xfrm>
            <a:off x="698305" y="2253235"/>
            <a:ext cx="4289331" cy="619598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Conclusion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and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Futurework</a:t>
            </a:r>
            <a:endParaRPr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p:pic>
        <p:nvPicPr>
          <p:cNvPr id="12" name="Image" descr="Image">
            <a:extLst>
              <a:ext uri="{FF2B5EF4-FFF2-40B4-BE49-F238E27FC236}">
                <a16:creationId xmlns:a16="http://schemas.microsoft.com/office/drawing/2014/main" id="{527B033D-58DE-C2AD-9182-2E91C466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54" y="502466"/>
            <a:ext cx="1934776" cy="1531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87CC85C-9605-11A6-85A7-8A7034F84D95}"/>
              </a:ext>
            </a:extLst>
          </p:cNvPr>
          <p:cNvGrpSpPr/>
          <p:nvPr/>
        </p:nvGrpSpPr>
        <p:grpSpPr>
          <a:xfrm>
            <a:off x="8396929" y="180373"/>
            <a:ext cx="3292787" cy="729780"/>
            <a:chOff x="8396929" y="180373"/>
            <a:chExt cx="3292787" cy="729780"/>
          </a:xfrm>
        </p:grpSpPr>
        <p:pic>
          <p:nvPicPr>
            <p:cNvPr id="14" name="Picture 13" descr="Picture 7">
              <a:extLst>
                <a:ext uri="{FF2B5EF4-FFF2-40B4-BE49-F238E27FC236}">
                  <a16:creationId xmlns:a16="http://schemas.microsoft.com/office/drawing/2014/main" id="{73CA5DA9-18E2-6441-B52B-1779AAE59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8289" y="284959"/>
              <a:ext cx="1053632" cy="5206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Picture 14" descr="Picture 9">
              <a:extLst>
                <a:ext uri="{FF2B5EF4-FFF2-40B4-BE49-F238E27FC236}">
                  <a16:creationId xmlns:a16="http://schemas.microsoft.com/office/drawing/2014/main" id="{2432F4F4-2404-927D-ADE3-04176DA3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00391" y="225891"/>
              <a:ext cx="823093" cy="6278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" name="pasted-movie.png">
              <a:extLst>
                <a:ext uri="{FF2B5EF4-FFF2-40B4-BE49-F238E27FC236}">
                  <a16:creationId xmlns:a16="http://schemas.microsoft.com/office/drawing/2014/main" id="{A19410C1-D3A7-317B-D39E-DA1841D4D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11333350" y="180373"/>
              <a:ext cx="356366" cy="7297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" name="pasted-movie.png">
              <a:extLst>
                <a:ext uri="{FF2B5EF4-FFF2-40B4-BE49-F238E27FC236}">
                  <a16:creationId xmlns:a16="http://schemas.microsoft.com/office/drawing/2014/main" id="{729A8509-CD14-D22C-8BCC-350A11E99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3941" t="19365" r="13941" b="19365"/>
            <a:stretch>
              <a:fillRect/>
            </a:stretch>
          </p:blipFill>
          <p:spPr>
            <a:xfrm>
              <a:off x="8396929" y="225891"/>
              <a:ext cx="672033" cy="5761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713953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Rectangle"/>
          <p:cNvSpPr/>
          <p:nvPr/>
        </p:nvSpPr>
        <p:spPr>
          <a:xfrm>
            <a:off x="-11767" y="1343345"/>
            <a:ext cx="12215534" cy="5531503"/>
          </a:xfrm>
          <a:prstGeom prst="rect">
            <a:avLst/>
          </a:prstGeom>
          <a:solidFill>
            <a:srgbClr val="FE2E45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659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32" y="387946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0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26" y="295810"/>
            <a:ext cx="959441" cy="73378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4078" y="103953"/>
            <a:ext cx="526003" cy="1065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2" name="pasted-movie.png" descr="pasted-movie.png"/>
          <p:cNvPicPr>
            <a:picLocks noChangeAspect="1"/>
          </p:cNvPicPr>
          <p:nvPr/>
        </p:nvPicPr>
        <p:blipFill>
          <a:blip r:embed="rId5"/>
          <a:srcRect l="13941" t="19365" r="13941" b="19365"/>
          <a:stretch>
            <a:fillRect/>
          </a:stretch>
        </p:blipFill>
        <p:spPr>
          <a:xfrm>
            <a:off x="7968564" y="251012"/>
            <a:ext cx="907559" cy="771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66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704" y="2355271"/>
            <a:ext cx="2919045" cy="2837091"/>
          </a:xfrm>
          <a:prstGeom prst="rect">
            <a:avLst/>
          </a:prstGeom>
          <a:ln w="12700">
            <a:miter lim="400000"/>
          </a:ln>
        </p:spPr>
      </p:pic>
      <p:sp>
        <p:nvSpPr>
          <p:cNvPr id="664" name="Thank you!"/>
          <p:cNvSpPr txBox="1">
            <a:spLocks noGrp="1"/>
          </p:cNvSpPr>
          <p:nvPr>
            <p:ph type="ctrTitle" idx="4294967295"/>
          </p:nvPr>
        </p:nvSpPr>
        <p:spPr>
          <a:xfrm>
            <a:off x="4352098" y="2352844"/>
            <a:ext cx="4403897" cy="3307515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lnSpc>
                <a:spcPct val="60000"/>
              </a:lnSpc>
              <a:defRPr sz="8000">
                <a:solidFill>
                  <a:srgbClr val="FFFFFF"/>
                </a:solidFill>
                <a:latin typeface="Merriweather Sans Regular ExtraBold"/>
                <a:ea typeface="Merriweather Sans Regular ExtraBold"/>
                <a:cs typeface="Merriweather Sans Regular ExtraBold"/>
                <a:sym typeface="Merriweather Sans Regular ExtraBold"/>
              </a:defRPr>
            </a:lvl1pPr>
          </a:lstStyle>
          <a:p>
            <a:pPr>
              <a:lnSpc>
                <a:spcPct val="100000"/>
              </a:lnSpc>
            </a:pPr>
            <a:r>
              <a:rPr b="1">
                <a:latin typeface="Microsoft YaHei"/>
              </a:rPr>
              <a:t>Thank you!</a:t>
            </a:r>
            <a:endParaRPr lang="en-US" b="1">
              <a:latin typeface="Microsoft YaHei"/>
            </a:endParaRPr>
          </a:p>
        </p:txBody>
      </p:sp>
      <p:pic>
        <p:nvPicPr>
          <p:cNvPr id="66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03668" y="647699"/>
            <a:ext cx="5015131" cy="702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5" ma:contentTypeDescription="Create a new document." ma:contentTypeScope="" ma:versionID="1314add8d98afe7b1ad8b68d04a9bd93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5fce5cc6bbfd5576a0b874f3de58ed7d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514ABFA-9A30-4B41-8A66-6FBD4BAF2C1A}">
  <ds:schemaRefs>
    <ds:schemaRef ds:uri="6259e846-8b77-4076-b7b3-191dee427045"/>
    <ds:schemaRef ds:uri="97847797-b717-4ffb-b5fd-2a237f853c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</Words>
  <Application>Microsoft Office PowerPoint</Application>
  <PresentationFormat>Widescreen</PresentationFormat>
  <Paragraphs>19</Paragraphs>
  <Slides>10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frontiertech</vt:lpstr>
      <vt:lpstr>PowerPoint Presentation</vt:lpstr>
      <vt:lpstr>PowerPoint Presentation</vt:lpstr>
      <vt:lpstr>Background &amp; Objective</vt:lpstr>
      <vt:lpstr>SDG Relation</vt:lpstr>
      <vt:lpstr>Project Element</vt:lpstr>
      <vt:lpstr>RoadMap</vt:lpstr>
      <vt:lpstr>Project Development</vt:lpstr>
      <vt:lpstr>Project Cost</vt:lpstr>
      <vt:lpstr>Conclusion and Futurework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EDA NUR SARUHAN</cp:lastModifiedBy>
  <cp:revision>74</cp:revision>
  <dcterms:modified xsi:type="dcterms:W3CDTF">2025-09-26T14:00:04Z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